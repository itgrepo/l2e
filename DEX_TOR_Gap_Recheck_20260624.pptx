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021" y="-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D43BC-87C3-9F15-9F40-B8E50E24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CAFF5-D4F0-C867-BAF2-37DAECB70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D822D-AAE9-0786-EB80-5734E0459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DC110-A8D5-E3CE-20BC-FD5A8D5E79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982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1BAD-6A60-58AA-EA27-AF78D701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40315-42BB-EF36-2F01-D5DC66416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70AB5-AA28-FB22-4B38-D81422CD5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62165-CFB6-36C6-C7E0-943F3D0AA6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4797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67DB-311E-C933-04B5-C793D204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3D614-64D7-5D0F-F4C9-15A4CAF5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0A7C5-B214-03C2-5329-4994AE69A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160C8-9247-72B9-47B8-0E829D5F76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535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8988-A848-9546-BC0C-1E98A443D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96DE6-2F1B-693D-720E-489B3EC8C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B6D57-3637-366A-1DD0-6FF9C9DD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F53B6-098F-F6C6-C6E3-F5AFE3B2FF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3172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84EE-4A7E-BC27-D54C-D63005FC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D3A10-CF8D-CD54-9454-97C4F53BF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51A89-2528-83B7-EE97-0D06DF7A3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FF9BC-3B1E-E064-5F04-6BF5A1E88D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739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51FF-20CC-82DE-E9C2-E50E9F132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38726-E9C5-9725-78E7-61567C110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5BD2E-D2A4-79EA-9F89-D9FC65BA0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999B3-5075-E29D-4F73-5C13DBC65F0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79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EC35-C36B-6B17-5131-8FA901C7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F84DD-70D6-6277-EA85-7C337045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15673-A0BD-823F-D0D0-78DB24B32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C663-ED55-0BB7-339F-29E582AE5F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7094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7005-74A5-A418-717F-67BB1056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0F1C1-062A-FD4C-1B78-7F41A8472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0A077-570D-82A6-F5D5-2E5CB774B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E06B-5212-531A-98AA-D1E04CF903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5663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BF9108F3-A031-42DC-83E5-E80D79AE21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F3D5FFE-73C5-4D80-BC05-3645117105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0583D"/>
          </a:solidFill>
          <a:ln w="0">
            <a:solidFill>
              <a:srgbClr val="005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AECB05DA-8447-46DE-8531-52AC51A7DD5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DEX</a:t>
            </a: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729B4F47-CBA6-46EF-B0FF-309AEB1ED865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CFFAE0"/>
                </a:solidFill>
              </a:defRPr>
            </a:pPr>
            <a:r>
              <a:rPr sz="1350" b="0">
                <a:solidFill>
                  <a:srgbClr val="CFFAE0"/>
                </a:solidFill>
              </a:rPr>
              <a:t>Learn to Earn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5D51D90D-DAC4-483C-B753-C207D048D0C3}"/>
              </a:ext>
            </a:extLst>
          </p:cNvPr>
          <p:cNvSpPr>
            <a:spLocks noGrp="1"/>
          </p:cNvSpPr>
          <p:nvPr/>
        </p:nvSpPr>
        <p:spPr>
          <a:xfrm>
            <a:off x="4762500" y="1790700"/>
            <a:ext cx="5810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รีเช็ก TOR 5.7</a:t>
            </a:r>
          </a:p>
          <a:p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ระบบ DEX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1AFE9ADC-0007-4571-A869-8F1C497363F4}"/>
              </a:ext>
            </a:extLst>
          </p:cNvPr>
          <p:cNvSpPr>
            <a:spLocks noGrp="1"/>
          </p:cNvSpPr>
          <p:nvPr/>
        </p:nvSpPr>
        <p:spPr>
          <a:xfrm>
            <a:off x="4810125" y="3314700"/>
            <a:ext cx="609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สรุป Gap ที่ตรวจจากหน้าระบบจริง และรายการที่ต้องปิดให้ครบ TOR 5.7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E9E7B3C8-4047-4332-A8BC-45867C110965}"/>
              </a:ext>
            </a:extLst>
          </p:cNvPr>
          <p:cNvSpPr>
            <a:spLocks noGrp="1"/>
          </p:cNvSpPr>
          <p:nvPr/>
        </p:nvSpPr>
        <p:spPr>
          <a:xfrm>
            <a:off x="4810125" y="4286250"/>
            <a:ext cx="21907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Recheck: 24 มิ.ย. 2569</a:t>
            </a:r>
          </a:p>
        </p:txBody>
      </p: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3FF5F1FC-0FBD-4E38-9F46-4F5A082DF4F3}"/>
              </a:ext>
            </a:extLst>
          </p:cNvPr>
          <p:cNvSpPr>
            <a:spLocks noGrp="1"/>
          </p:cNvSpPr>
          <p:nvPr/>
        </p:nvSpPr>
        <p:spPr>
          <a:xfrm>
            <a:off x="7162800" y="4286250"/>
            <a:ext cx="20002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Evidence-based deck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7B483CFF-404B-42EF-ADA2-ACCD58F887D4}"/>
              </a:ext>
            </a:extLst>
          </p:cNvPr>
          <p:cNvSpPr>
            <a:spLocks noGrp="1"/>
          </p:cNvSpPr>
          <p:nvPr/>
        </p:nvSpPr>
        <p:spPr>
          <a:xfrm>
            <a:off x="4810125" y="519112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อ้างอิง: Gap Analysis, PPTX เดิม และภาพจากระบบจริง</a:t>
            </a:r>
          </a:p>
        </p:txBody>
      </p:sp>
    </p:spTree>
    <p:extLst>
      <p:ext uri="{BB962C8B-B14F-4D97-AF65-F5344CB8AC3E}">
        <p14:creationId xmlns:p14="http://schemas.microsoft.com/office/powerpoint/2010/main" val="75796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86C6ACF4-041D-41DB-9D2E-D3803C5887A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778D87BF-11A7-4A3D-951B-27B94E8D875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สรุปสถานะหลังรีเช็ก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735B5405-A095-433C-8343-D25EB1050E65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CC7E5C02-2C81-4C8D-808D-51A464A9B94E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DD9DDAF-97A3-43DD-8F73-04F86AF70B9D}"/>
              </a:ext>
            </a:extLst>
          </p:cNvPr>
          <p:cNvSpPr>
            <a:spLocks noGrp="1"/>
          </p:cNvSpPr>
          <p:nvPr/>
        </p:nvSpPr>
        <p:spPr>
          <a:xfrm>
            <a:off x="552450" y="1285875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สรุปสถานะหลังรีเช็ก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452E4132-3299-4782-944D-616ECBBD15B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866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ผลตรวจวันที่ 24 มิ.ย. 2569 ยืนยันว่า Gap หลักยังอยู่บางรายการ แต่มีความคืบหน้าฝั่ง Dataset Configuration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EBF19D06-9F55-461D-AF98-3FAC50A6424A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D50C1C0C-A470-4A56-A1CA-690331394C7E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11D48"/>
                </a:solidFill>
              </a:defRPr>
            </a:pPr>
            <a:r>
              <a:rPr sz="1350" b="1">
                <a:solidFill>
                  <a:srgbClr val="E11D48"/>
                </a:solidFill>
              </a:rPr>
              <a:t>Gap ยืนยัน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46E82F1F-BB50-489A-A2DC-A6CF5E7F0CBE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 รายการ</a:t>
            </a:r>
          </a:p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API Public/Private, Admin Create User, Request Access</a:t>
            </a:r>
          </a:p>
        </p:txBody>
      </p:sp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DBA7B58D-665F-4C80-9B51-4CBDFB277D14}"/>
              </a:ext>
            </a:extLst>
          </p:cNvPr>
          <p:cNvSpPr>
            <a:spLocks noGrp="1"/>
          </p:cNvSpPr>
          <p:nvPr/>
        </p:nvSpPr>
        <p:spPr>
          <a:xfrm>
            <a:off x="3162300" y="257175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8E029235-8F8A-4FFC-95AA-A5AD0901ABEA}"/>
              </a:ext>
            </a:extLst>
          </p:cNvPr>
          <p:cNvSpPr>
            <a:spLocks noGrp="1"/>
          </p:cNvSpPr>
          <p:nvPr/>
        </p:nvSpPr>
        <p:spPr>
          <a:xfrm>
            <a:off x="3352800" y="2743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มีบางส่วน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BB1331D0-15FB-4C74-8D12-588F8DE44C59}"/>
              </a:ext>
            </a:extLst>
          </p:cNvPr>
          <p:cNvSpPr>
            <a:spLocks noGrp="1"/>
          </p:cNvSpPr>
          <p:nvPr/>
        </p:nvSpPr>
        <p:spPr>
          <a:xfrm>
            <a:off x="3352800" y="31242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4 รายการ</a:t>
            </a:r>
          </a:p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Forgot Password, Role Display, Notifications, Analytics</a:t>
            </a:r>
          </a:p>
        </p:txBody>
      </p:sp>
      <p:sp>
        <p:nvSpPr>
          <p:cNvPr id="13" name="สี่เหลี่ยมผืนผ้า: มุมมน 12">
            <a:extLst>
              <a:ext uri="{FF2B5EF4-FFF2-40B4-BE49-F238E27FC236}">
                <a16:creationId xmlns:a16="http://schemas.microsoft.com/office/drawing/2014/main" id="{5E08741C-6E24-4F32-8A07-E078B731C36F}"/>
              </a:ext>
            </a:extLst>
          </p:cNvPr>
          <p:cNvSpPr>
            <a:spLocks noGrp="1"/>
          </p:cNvSpPr>
          <p:nvPr/>
        </p:nvSpPr>
        <p:spPr>
          <a:xfrm>
            <a:off x="5772150" y="257175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635AB196-C52A-4CFF-B0B4-98EE9FE0FD26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พบความคืบหน้า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A4CC6777-AD3B-48D6-AAE9-176FDD27C779}"/>
              </a:ext>
            </a:extLst>
          </p:cNvPr>
          <p:cNvSpPr>
            <a:spLocks noGrp="1"/>
          </p:cNvSpPr>
          <p:nvPr/>
        </p:nvSpPr>
        <p:spPr>
          <a:xfrm>
            <a:off x="5962650" y="31242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Dataset Configuration เริ่มมีข้อมูล L2E เช่น Completion Data</a:t>
            </a:r>
          </a:p>
        </p:txBody>
      </p:sp>
      <p:sp>
        <p:nvSpPr>
          <p:cNvPr id="16" name="สี่เหลี่ยมผืนผ้า: มุมมน 15">
            <a:extLst>
              <a:ext uri="{FF2B5EF4-FFF2-40B4-BE49-F238E27FC236}">
                <a16:creationId xmlns:a16="http://schemas.microsoft.com/office/drawing/2014/main" id="{B1968C4C-7522-4CF9-B4F5-B60969F2DE2C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7620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21213116-224B-4E7F-BE95-3253A472A94B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11D48"/>
                </a:solidFill>
              </a:defRPr>
            </a:pPr>
            <a:r>
              <a:rPr sz="1350" b="1">
                <a:solidFill>
                  <a:srgbClr val="E11D48"/>
                </a:solidFill>
              </a:rPr>
              <a:t>ข้อควรระวัง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CABCAFA1-D6DE-4721-B8D3-A305F6969DE8}"/>
              </a:ext>
            </a:extLst>
          </p:cNvPr>
          <p:cNvSpPr>
            <a:spLocks noGrp="1"/>
          </p:cNvSpPr>
          <p:nvPr/>
        </p:nvSpPr>
        <p:spPr>
          <a:xfrm>
            <a:off x="742950" y="483870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Dataset ที่ติด Restricted ยังดาวน์โหลด CSV/Excel ได้จากหน้า detail และยังไม่พบ flow ขอสิทธิ์/เลือก field ที่ผู้ใช้ต้องการเข้าถึง</a:t>
            </a:r>
          </a:p>
        </p:txBody>
      </p:sp>
    </p:spTree>
    <p:extLst>
      <p:ext uri="{BB962C8B-B14F-4D97-AF65-F5344CB8AC3E}">
        <p14:creationId xmlns:p14="http://schemas.microsoft.com/office/powerpoint/2010/main" val="122014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078C7F19-1E2F-4BB2-8702-1F4E355D5F1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33D1194-2B24-47F3-98FB-7D70056CBB9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API Management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FD1A2A0C-D270-48E9-BF03-0671B92B7086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C29D08EB-40B6-4066-BAAF-C38F6187EFF2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B8905124-2F9D-446D-AF97-3B8EA3A4605B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API Management ต้องเพิ่ม Public / Private Access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F3566BC5-7129-46D4-ABC4-43BCDA7CC445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666875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5.7.5(6)-(8)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A6857D9D-C4DE-4E6E-8EAD-DC2ACB28727B}"/>
              </a:ext>
            </a:extLst>
          </p:cNvPr>
          <p:cNvSpPr>
            <a:spLocks noGrp="1"/>
          </p:cNvSpPr>
          <p:nvPr/>
        </p:nvSpPr>
        <p:spPr>
          <a:xfrm>
            <a:off x="238125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>
                <a:solidFill>
                  <a:srgbClr val="E11D48"/>
                </a:solidFill>
              </a:rPr>
              <a:t>Gap ยืนยัน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89759A28-E0E6-4232-BEDB-D270D80B0AB7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ฟอร์ม Add API ยังมี API Type เป็น general เท่านั้น ไม่พบตัวเลือก Public/Private หรือ rule บังคับสิทธิ์ตามประเภท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C8F87A71-876C-4E62-835C-33632468876C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4191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BCD16992-4193-414F-8D94-1FCB329E3477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51D61443-57BA-4A29-A6F0-70D2FF330B63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เพิ่ม API Access Type = Public/Private และ enforce สิทธิ์ฝั่ง server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9727" y="1257300"/>
            <a:ext cx="5418796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22031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F95AB0D6-A1F8-4885-9672-14442C8AEF9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B4CEAFF-5CF5-40B2-9311-42DC20AF74D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C5C7DF00-01FB-490A-AFAD-6713E7F7FDE0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A6592DB-09B5-4B6A-BA5E-BEE178A0F51E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D517816B-D36E-4F4E-B5AE-343646C4A1D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2A77B973-79B4-46C9-871F-88366696D03B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0FD4E38-7CE3-48C7-B9DA-A1D35C842A90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วันที่ปรับปรุงล่าสุดไม่ </a:t>
            </a:r>
            <a:r>
              <a:rPr lang="en-US" sz="1500" dirty="0">
                <a:solidFill>
                  <a:srgbClr val="111827"/>
                </a:solidFill>
              </a:rPr>
              <a:t>Default </a:t>
            </a:r>
            <a:r>
              <a:rPr lang="th-TH" sz="1500" dirty="0">
                <a:solidFill>
                  <a:srgbClr val="111827"/>
                </a:solidFill>
              </a:rPr>
              <a:t>วันที่แก้ไขล่าสุดให้อัตโนมัติ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172C5D5A-78A2-4066-BB49-9B390ED1BD71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D8958F97-0AB0-4F25-B273-320F4240091E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5987BF31-62FF-48C3-9A48-199387F8DD39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Default </a:t>
            </a:r>
            <a:r>
              <a:rPr lang="th-TH" sz="1200" dirty="0">
                <a:solidFill>
                  <a:srgbClr val="111827"/>
                </a:solidFill>
              </a:rPr>
              <a:t>วันที่แก้ไขล่าสุดให้อัตโนมัติ</a:t>
            </a: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B73CBED6-B194-34E8-1B61-A50EE1F74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975"/>
          <a:stretch>
            <a:fillRect/>
          </a:stretch>
        </p:blipFill>
        <p:spPr>
          <a:xfrm>
            <a:off x="5586984" y="1773174"/>
            <a:ext cx="5669600" cy="3779523"/>
          </a:xfrm>
          <a:prstGeom prst="rect">
            <a:avLst/>
          </a:prstGeom>
        </p:spPr>
      </p:pic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6D69167E-2432-FC0D-CB96-61B71E093F18}"/>
              </a:ext>
            </a:extLst>
          </p:cNvPr>
          <p:cNvCxnSpPr/>
          <p:nvPr/>
        </p:nvCxnSpPr>
        <p:spPr>
          <a:xfrm flipH="1">
            <a:off x="4743450" y="3840480"/>
            <a:ext cx="40896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21DDBACF-41BF-C67C-09E5-818C91DE04E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 dirty="0">
                <a:solidFill>
                  <a:srgbClr val="111827"/>
                </a:solidFill>
              </a:rPr>
              <a:t>Dataset </a:t>
            </a:r>
            <a:r>
              <a:rPr lang="en-US" sz="2625" b="1" dirty="0" err="1">
                <a:solidFill>
                  <a:srgbClr val="111827"/>
                </a:solidFill>
              </a:rPr>
              <a:t>Confi</a:t>
            </a:r>
            <a:r>
              <a:rPr lang="en-US" sz="2625" b="1" dirty="0">
                <a:solidFill>
                  <a:srgbClr val="111827"/>
                </a:solidFill>
              </a:rPr>
              <a:t> /</a:t>
            </a:r>
            <a:r>
              <a:rPr lang="th-TH" sz="2625" b="1" dirty="0">
                <a:solidFill>
                  <a:srgbClr val="111827"/>
                </a:solidFill>
              </a:rPr>
              <a:t>สร้างชุดข้อมูล</a:t>
            </a:r>
            <a:endParaRPr sz="2625" b="1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3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6E111-A3DE-8701-EA85-790C5F92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43C6DB3A-B95E-F10E-1328-3ED6589684F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0E27E61A-F5E9-E604-4A72-71774CFEE6E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C293EB83-5D7E-3D47-D76F-0D9E983F2C12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43A61B01-CC4B-047D-E258-68BAB0F6B5A9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9549F803-90B8-98EE-759A-A0BE4B62D70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 dirty="0">
                <a:solidFill>
                  <a:srgbClr val="111827"/>
                </a:solidFill>
              </a:rPr>
              <a:t>Dataset </a:t>
            </a:r>
            <a:r>
              <a:rPr lang="en-US" sz="2625" b="1" dirty="0" err="1">
                <a:solidFill>
                  <a:srgbClr val="111827"/>
                </a:solidFill>
              </a:rPr>
              <a:t>Confi</a:t>
            </a:r>
            <a:r>
              <a:rPr lang="en-US" sz="2625" b="1" dirty="0">
                <a:solidFill>
                  <a:srgbClr val="111827"/>
                </a:solidFill>
              </a:rPr>
              <a:t> /</a:t>
            </a:r>
            <a:r>
              <a:rPr lang="th-TH" sz="2625" b="1" dirty="0">
                <a:solidFill>
                  <a:srgbClr val="111827"/>
                </a:solidFill>
              </a:rPr>
              <a:t>สร้างชุดข้อมูล</a:t>
            </a:r>
            <a:endParaRPr sz="2625" b="1" dirty="0">
              <a:solidFill>
                <a:srgbClr val="111827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8EF1E084-08F8-F9E0-71EA-F625FCEDDDAF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70DB35BD-CAE4-FE1B-2469-E2E862D5CA6D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9ABAC373-91FF-501E-7059-4CF71C134F88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เมื่อกดบันทึกชุดข้อมูลระบบไม่ </a:t>
            </a:r>
            <a:r>
              <a:rPr lang="en-US" sz="1500" dirty="0" err="1">
                <a:solidFill>
                  <a:srgbClr val="111827"/>
                </a:solidFill>
              </a:rPr>
              <a:t>Reponse</a:t>
            </a:r>
            <a:r>
              <a:rPr lang="en-US" sz="1500" dirty="0">
                <a:solidFill>
                  <a:srgbClr val="111827"/>
                </a:solidFill>
              </a:rPr>
              <a:t> </a:t>
            </a:r>
            <a:r>
              <a:rPr lang="th-TH" sz="1500" dirty="0">
                <a:solidFill>
                  <a:srgbClr val="111827"/>
                </a:solidFill>
              </a:rPr>
              <a:t>ขึ้นด้านบนเพื่อแสดงสถานะการบันทึกข้อมูล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5E431DED-DDF7-FA16-A941-86507A083CCC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CABDD7FF-097F-14D2-58DF-8ED5FBA8E7E2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267A7607-E086-6EC8-3FD7-08196B9E1E88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th-TH" sz="1125" b="0" dirty="0">
                <a:solidFill>
                  <a:srgbClr val="111827"/>
                </a:solidFill>
              </a:rPr>
              <a:t>เมื่อบันทึกเสร็จหน้าระบบต้อง </a:t>
            </a:r>
            <a:r>
              <a:rPr lang="en-US" sz="1125" b="0" dirty="0" err="1">
                <a:solidFill>
                  <a:srgbClr val="111827"/>
                </a:solidFill>
              </a:rPr>
              <a:t>Respon</a:t>
            </a:r>
            <a:r>
              <a:rPr lang="en-US" sz="1125" b="0" dirty="0">
                <a:solidFill>
                  <a:srgbClr val="111827"/>
                </a:solidFill>
              </a:rPr>
              <a:t> </a:t>
            </a:r>
            <a:r>
              <a:rPr lang="th-TH" sz="1125" b="0" dirty="0">
                <a:solidFill>
                  <a:srgbClr val="111827"/>
                </a:solidFill>
              </a:rPr>
              <a:t>ขึ้นด้านบนเพื่อแสดงสถานะการบันทึกของข้อมูล</a:t>
            </a:r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D09651C5-0D74-B18B-0DBE-4969E2EA7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94" y="3730371"/>
            <a:ext cx="5449862" cy="2699385"/>
          </a:xfrm>
          <a:prstGeom prst="rect">
            <a:avLst/>
          </a:prstGeom>
        </p:spPr>
      </p:pic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F9CEE6F6-4153-E6D6-D91D-36A09C1A7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0" y="242697"/>
            <a:ext cx="6261737" cy="3106293"/>
          </a:xfrm>
          <a:prstGeom prst="rect">
            <a:avLst/>
          </a:prstGeom>
        </p:spPr>
      </p:pic>
      <p:cxnSp>
        <p:nvCxnSpPr>
          <p:cNvPr id="20" name="ลูกศรเชื่อมต่อแบบตรง 19">
            <a:extLst>
              <a:ext uri="{FF2B5EF4-FFF2-40B4-BE49-F238E27FC236}">
                <a16:creationId xmlns:a16="http://schemas.microsoft.com/office/drawing/2014/main" id="{09201473-9E48-F30B-DEB5-78339EC15EE6}"/>
              </a:ext>
            </a:extLst>
          </p:cNvPr>
          <p:cNvCxnSpPr/>
          <p:nvPr/>
        </p:nvCxnSpPr>
        <p:spPr>
          <a:xfrm flipV="1">
            <a:off x="10360152" y="1490472"/>
            <a:ext cx="0" cy="4334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FA190A81-D36C-CDCF-3DDC-92A64E95B333}"/>
              </a:ext>
            </a:extLst>
          </p:cNvPr>
          <p:cNvSpPr/>
          <p:nvPr/>
        </p:nvSpPr>
        <p:spPr>
          <a:xfrm>
            <a:off x="7869936" y="1608582"/>
            <a:ext cx="1816608" cy="957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POPUP ALERT</a:t>
            </a:r>
          </a:p>
        </p:txBody>
      </p:sp>
    </p:spTree>
    <p:extLst>
      <p:ext uri="{BB962C8B-B14F-4D97-AF65-F5344CB8AC3E}">
        <p14:creationId xmlns:p14="http://schemas.microsoft.com/office/powerpoint/2010/main" val="352310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5B387-C6FD-C861-C465-A43E1F19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2B1030DD-266B-D1B2-BEC8-04FAB381756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EF2C224F-5424-C089-7884-030C01CFF9A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350F2295-45B0-2D28-298E-28356CEC2B5B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20A19106-F2D7-D890-65ED-C5D5717396B4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8277FE99-13EC-6D17-2439-2A3DFEDAD597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 dirty="0">
                <a:solidFill>
                  <a:srgbClr val="111827"/>
                </a:solidFill>
              </a:rPr>
              <a:t>Dataset</a:t>
            </a:r>
            <a:r>
              <a:rPr lang="en-US" sz="2625" b="1" dirty="0">
                <a:solidFill>
                  <a:srgbClr val="111827"/>
                </a:solidFill>
              </a:rPr>
              <a:t> Configuration / </a:t>
            </a:r>
            <a:r>
              <a:rPr lang="th-TH" sz="2625" b="1" dirty="0">
                <a:solidFill>
                  <a:srgbClr val="111827"/>
                </a:solidFill>
              </a:rPr>
              <a:t>แก้ไขชุดข้อมูล</a:t>
            </a:r>
            <a:endParaRPr sz="2625" b="1" dirty="0">
              <a:solidFill>
                <a:srgbClr val="111827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A90072B9-8DC0-095C-41F8-227C8047834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3C791310-1F3E-3712-70CA-52C349D4ED39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294617F-5CE1-9A0C-FABE-E713D056D8F8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1500" b="0">
                <a:solidFill>
                  <a:srgbClr val="111827"/>
                </a:solidFill>
              </a:defRPr>
            </a:pPr>
            <a:r>
              <a:rPr lang="th-TH" sz="1500" b="0" dirty="0">
                <a:solidFill>
                  <a:srgbClr val="111827"/>
                </a:solidFill>
              </a:rPr>
              <a:t>ข้อมูลที่เคยบันทึกไว้</a:t>
            </a:r>
            <a:r>
              <a:rPr lang="th-TH" sz="1500" dirty="0">
                <a:solidFill>
                  <a:srgbClr val="111827"/>
                </a:solidFill>
              </a:rPr>
              <a:t>ไม่ </a:t>
            </a:r>
            <a:r>
              <a:rPr lang="en-US" sz="1500" dirty="0"/>
              <a:t>Freez</a:t>
            </a:r>
            <a:r>
              <a:rPr lang="th-TH" sz="1500" dirty="0"/>
              <a:t> ค่าเดิมที่เคยเซตไว้เมื่อกดแก้ไขชุดข้อมูล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51F6347A-8C51-AAA5-DA92-D152BC778274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6D4C2743-BAE1-43AF-97DC-4B4099931584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94A6B654-8BEA-DC8C-A0D2-F8CADCD056F7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th-TH" sz="1125" b="0" dirty="0">
                <a:solidFill>
                  <a:srgbClr val="111827"/>
                </a:solidFill>
              </a:rPr>
              <a:t>ที่เคยเซตไว้ต้อง </a:t>
            </a:r>
            <a:r>
              <a:rPr lang="en-US" sz="1125" dirty="0"/>
              <a:t>Freez</a:t>
            </a:r>
            <a:r>
              <a:rPr lang="th-TH" sz="1125" dirty="0"/>
              <a:t> ไว้จนกว่าจะมีการแก้ไขและกดบันทึก</a:t>
            </a: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09F13F1A-E854-0B58-F544-1E5568519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3256" y="3614022"/>
            <a:ext cx="3043174" cy="2699385"/>
          </a:xfrm>
          <a:prstGeom prst="rect">
            <a:avLst/>
          </a:prstGeom>
        </p:spPr>
      </p:pic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FAF48D29-392B-002D-D6DF-427EFEA43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5450" y="244364"/>
            <a:ext cx="6261737" cy="3102958"/>
          </a:xfrm>
          <a:prstGeom prst="rect">
            <a:avLst/>
          </a:prstGeom>
        </p:spPr>
      </p:pic>
      <p:cxnSp>
        <p:nvCxnSpPr>
          <p:cNvPr id="20" name="ลูกศรเชื่อมต่อแบบตรง 19">
            <a:extLst>
              <a:ext uri="{FF2B5EF4-FFF2-40B4-BE49-F238E27FC236}">
                <a16:creationId xmlns:a16="http://schemas.microsoft.com/office/drawing/2014/main" id="{25D9AE72-1CB0-E051-0FBF-253884DC2517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6994843" y="1106424"/>
            <a:ext cx="0" cy="25075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8" name="รูปภาพ 17">
            <a:extLst>
              <a:ext uri="{FF2B5EF4-FFF2-40B4-BE49-F238E27FC236}">
                <a16:creationId xmlns:a16="http://schemas.microsoft.com/office/drawing/2014/main" id="{37703DEC-DDEE-2983-0B5D-43E7232FF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318" y="3614022"/>
            <a:ext cx="3242618" cy="285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2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112D9-D041-5020-3B84-41DB22F5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4F7B11EE-DFDF-2B9E-C179-F882470EE17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DC861BC-126E-7DB5-0024-8FF97ACE158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1F18821-AD53-039D-6C54-97819A31E00B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0FD797-24C1-E48B-BBB1-CB7CF7745C34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EA57A1B4-504D-D238-8692-87E6B6FA47A3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 dirty="0">
                <a:solidFill>
                  <a:srgbClr val="111827"/>
                </a:solidFill>
              </a:rPr>
              <a:t>Dataset </a:t>
            </a:r>
            <a:r>
              <a:rPr lang="en-US" sz="2625" b="1" dirty="0" err="1">
                <a:solidFill>
                  <a:srgbClr val="111827"/>
                </a:solidFill>
              </a:rPr>
              <a:t>Confi</a:t>
            </a:r>
            <a:r>
              <a:rPr lang="en-US" sz="2625" b="1" dirty="0">
                <a:solidFill>
                  <a:srgbClr val="111827"/>
                </a:solidFill>
              </a:rPr>
              <a:t> /</a:t>
            </a:r>
            <a:r>
              <a:rPr lang="th-TH" sz="2625" b="1" dirty="0">
                <a:solidFill>
                  <a:schemeClr val="accent4"/>
                </a:solidFill>
              </a:rPr>
              <a:t>สร้าง</a:t>
            </a:r>
            <a:r>
              <a:rPr lang="en-US" sz="2625" b="1" dirty="0">
                <a:solidFill>
                  <a:schemeClr val="accent4"/>
                </a:solidFill>
              </a:rPr>
              <a:t> API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8C43FD63-F41A-CEE3-2C46-19B2C2361458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F75537EE-49C5-EEAB-8338-CFD650857F44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D1D29009-066C-AB20-99CB-42ED8428AFFC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เมื่อกดบันทึก</a:t>
            </a:r>
            <a:r>
              <a:rPr lang="en-US" sz="1500" dirty="0">
                <a:solidFill>
                  <a:srgbClr val="111827"/>
                </a:solidFill>
              </a:rPr>
              <a:t> API </a:t>
            </a:r>
            <a:r>
              <a:rPr lang="th-TH" sz="1500" dirty="0">
                <a:solidFill>
                  <a:srgbClr val="111827"/>
                </a:solidFill>
              </a:rPr>
              <a:t>ระบบไม่ </a:t>
            </a:r>
            <a:r>
              <a:rPr lang="en-US" sz="1500" dirty="0" err="1">
                <a:solidFill>
                  <a:srgbClr val="111827"/>
                </a:solidFill>
              </a:rPr>
              <a:t>Reponse</a:t>
            </a:r>
            <a:r>
              <a:rPr lang="en-US" sz="1500" dirty="0">
                <a:solidFill>
                  <a:srgbClr val="111827"/>
                </a:solidFill>
              </a:rPr>
              <a:t> </a:t>
            </a:r>
            <a:r>
              <a:rPr lang="th-TH" sz="1500" dirty="0">
                <a:solidFill>
                  <a:srgbClr val="111827"/>
                </a:solidFill>
              </a:rPr>
              <a:t>ขึ้นด้านบนเพื่อแสดงสถานการณ์บันทึกและหน้าระบบค้างข้อมูลเดิมไม่ </a:t>
            </a:r>
            <a:r>
              <a:rPr lang="en-US" sz="1500" dirty="0">
                <a:solidFill>
                  <a:srgbClr val="111827"/>
                </a:solidFill>
              </a:rPr>
              <a:t>Refresh/Redirect </a:t>
            </a:r>
            <a:r>
              <a:rPr lang="th-TH" sz="1500" dirty="0">
                <a:solidFill>
                  <a:srgbClr val="111827"/>
                </a:solidFill>
              </a:rPr>
              <a:t>หน้าระบบ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2431B0DE-CA4B-B8D4-BC01-A6CE16CA8B55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078C4D65-6BAF-9391-D0C2-755ED1DB4196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A4866527-71F3-A6EB-AB60-9ACA5D288C9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th-TH" sz="1125" b="0" dirty="0">
                <a:solidFill>
                  <a:srgbClr val="111827"/>
                </a:solidFill>
              </a:rPr>
              <a:t>เมื่อบันทึกเสร็จหน้าระบบต้อง </a:t>
            </a:r>
            <a:r>
              <a:rPr lang="en-US" sz="1125" b="0" dirty="0" err="1">
                <a:solidFill>
                  <a:srgbClr val="111827"/>
                </a:solidFill>
              </a:rPr>
              <a:t>Respon</a:t>
            </a:r>
            <a:r>
              <a:rPr lang="en-US" sz="1125" b="0" dirty="0">
                <a:solidFill>
                  <a:srgbClr val="111827"/>
                </a:solidFill>
              </a:rPr>
              <a:t> </a:t>
            </a:r>
            <a:r>
              <a:rPr lang="th-TH" sz="1125" b="0" dirty="0">
                <a:solidFill>
                  <a:srgbClr val="111827"/>
                </a:solidFill>
              </a:rPr>
              <a:t>ขึ้นด้านบนเพื่อแสดงสถานะการบันทึกของข้อมูล</a:t>
            </a:r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86966EE7-3E69-A36B-5836-103AF4E4B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8516" y="3730371"/>
            <a:ext cx="5404417" cy="2699385"/>
          </a:xfrm>
          <a:prstGeom prst="rect">
            <a:avLst/>
          </a:prstGeom>
        </p:spPr>
      </p:pic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EF665F74-4FD1-5C2B-690B-339A7DB9C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5450" y="294132"/>
            <a:ext cx="6235450" cy="3106293"/>
          </a:xfrm>
          <a:prstGeom prst="rect">
            <a:avLst/>
          </a:prstGeom>
        </p:spPr>
      </p:pic>
      <p:cxnSp>
        <p:nvCxnSpPr>
          <p:cNvPr id="20" name="ลูกศรเชื่อมต่อแบบตรง 19">
            <a:extLst>
              <a:ext uri="{FF2B5EF4-FFF2-40B4-BE49-F238E27FC236}">
                <a16:creationId xmlns:a16="http://schemas.microsoft.com/office/drawing/2014/main" id="{F478F821-C95C-73C3-9DC3-347E0717C4E6}"/>
              </a:ext>
            </a:extLst>
          </p:cNvPr>
          <p:cNvCxnSpPr/>
          <p:nvPr/>
        </p:nvCxnSpPr>
        <p:spPr>
          <a:xfrm flipV="1">
            <a:off x="10360152" y="1490472"/>
            <a:ext cx="0" cy="4334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733AC31-72CB-52A6-02AA-6DE15CF5DDD1}"/>
              </a:ext>
            </a:extLst>
          </p:cNvPr>
          <p:cNvSpPr/>
          <p:nvPr/>
        </p:nvSpPr>
        <p:spPr>
          <a:xfrm>
            <a:off x="7869936" y="1608582"/>
            <a:ext cx="1816608" cy="957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POPUP ALERT</a:t>
            </a:r>
          </a:p>
        </p:txBody>
      </p:sp>
    </p:spTree>
    <p:extLst>
      <p:ext uri="{BB962C8B-B14F-4D97-AF65-F5344CB8AC3E}">
        <p14:creationId xmlns:p14="http://schemas.microsoft.com/office/powerpoint/2010/main" val="299371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8AF53-0BBD-AD0B-33A7-F8722D0C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C54CCEBF-217E-7C64-8D15-2558D7F79C2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A663264-520B-488C-12DD-979162DE52E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3E53F0B4-050B-06BC-7740-0AEB4608190E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4529880-BA61-5C60-5B07-61B69639344E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3E831D1-7AC0-0479-B146-F8C568D5A491}"/>
              </a:ext>
            </a:extLst>
          </p:cNvPr>
          <p:cNvSpPr>
            <a:spLocks noGrp="1"/>
          </p:cNvSpPr>
          <p:nvPr/>
        </p:nvSpPr>
        <p:spPr>
          <a:xfrm>
            <a:off x="440055" y="1071152"/>
            <a:ext cx="704469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1827"/>
                </a:solidFill>
              </a:defRPr>
            </a:pPr>
            <a:r>
              <a:rPr sz="2625" b="1" dirty="0">
                <a:solidFill>
                  <a:srgbClr val="111827"/>
                </a:solidFill>
              </a:rPr>
              <a:t>Dataset </a:t>
            </a:r>
            <a:r>
              <a:rPr lang="en-US" sz="2625" b="1" dirty="0" err="1">
                <a:solidFill>
                  <a:srgbClr val="111827"/>
                </a:solidFill>
              </a:rPr>
              <a:t>Confi</a:t>
            </a:r>
            <a:r>
              <a:rPr lang="en-US" sz="2625" b="1" dirty="0">
                <a:solidFill>
                  <a:srgbClr val="111827"/>
                </a:solidFill>
              </a:rPr>
              <a:t> /</a:t>
            </a:r>
            <a:r>
              <a:rPr lang="th-TH" dirty="0"/>
              <a:t>ตั้งชื่อ </a:t>
            </a:r>
            <a:r>
              <a:rPr lang="en-US" dirty="0"/>
              <a:t>Dataset </a:t>
            </a:r>
            <a:r>
              <a:rPr lang="en-US" dirty="0" err="1"/>
              <a:t>Name+ID</a:t>
            </a:r>
            <a:r>
              <a:rPr lang="en-US" dirty="0"/>
              <a:t> </a:t>
            </a:r>
            <a:r>
              <a:rPr lang="th-TH" dirty="0"/>
              <a:t>ได้ และมีระบบตรวจสอบชื่อซ้ำ</a:t>
            </a:r>
            <a:endParaRPr lang="en-US" dirty="0"/>
          </a:p>
          <a:p>
            <a:pPr algn="l">
              <a:defRPr sz="2625" b="1">
                <a:solidFill>
                  <a:srgbClr val="111827"/>
                </a:solidFill>
              </a:defRPr>
            </a:pPr>
            <a:r>
              <a:rPr lang="th-TH" sz="2625" b="1" dirty="0">
                <a:solidFill>
                  <a:srgbClr val="111827"/>
                </a:solidFill>
              </a:rPr>
              <a:t> 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31081394-540A-616D-F483-977E7C3C0BE4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7348B279-6FA0-4733-AC9F-EE42AEDFAFB7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729FBA7D-3E1C-365E-E2A5-FE9125027773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เปลี่ยน </a:t>
            </a:r>
            <a:r>
              <a:rPr lang="en-US" sz="1500" dirty="0">
                <a:solidFill>
                  <a:srgbClr val="111827"/>
                </a:solidFill>
              </a:rPr>
              <a:t>Text </a:t>
            </a:r>
            <a:r>
              <a:rPr lang="th-TH" sz="1500" dirty="0">
                <a:solidFill>
                  <a:srgbClr val="111827"/>
                </a:solidFill>
              </a:rPr>
              <a:t>ในกล่อง </a:t>
            </a:r>
            <a:r>
              <a:rPr lang="en-US" sz="1500" dirty="0">
                <a:solidFill>
                  <a:srgbClr val="111827"/>
                </a:solidFill>
              </a:rPr>
              <a:t>Noti </a:t>
            </a:r>
            <a:r>
              <a:rPr lang="th-TH" sz="1500" dirty="0">
                <a:solidFill>
                  <a:srgbClr val="111827"/>
                </a:solidFill>
              </a:rPr>
              <a:t>จาก </a:t>
            </a:r>
            <a:r>
              <a:rPr lang="en-US" sz="1500" dirty="0">
                <a:solidFill>
                  <a:srgbClr val="111827"/>
                </a:solidFill>
              </a:rPr>
              <a:t>Service name &gt; Dataset Name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087470EE-F8F9-5E1D-F8C4-EB8E8DFE671D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603ACA96-A415-135B-142C-F8E5EE9297A7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0D478A78-D3D9-24E0-B6FE-1AE9D6F26626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th-TH" sz="1200" dirty="0">
                <a:solidFill>
                  <a:srgbClr val="111827"/>
                </a:solidFill>
              </a:rPr>
              <a:t>เปลี่ยน </a:t>
            </a:r>
            <a:r>
              <a:rPr lang="en-US" sz="1200" dirty="0">
                <a:solidFill>
                  <a:srgbClr val="111827"/>
                </a:solidFill>
              </a:rPr>
              <a:t>Text </a:t>
            </a:r>
            <a:r>
              <a:rPr lang="th-TH" sz="1200" dirty="0">
                <a:solidFill>
                  <a:srgbClr val="111827"/>
                </a:solidFill>
              </a:rPr>
              <a:t>จาก </a:t>
            </a:r>
            <a:r>
              <a:rPr lang="en-US" sz="1200" dirty="0">
                <a:solidFill>
                  <a:srgbClr val="111827"/>
                </a:solidFill>
              </a:rPr>
              <a:t>Service name &gt; Dataset Name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CC4C0283-F638-B784-304A-FEAD5396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0" y="1595027"/>
            <a:ext cx="5975900" cy="28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05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BADE9-C4CC-C788-A7A9-7C2DB401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E2F7E684-A074-FDFB-069A-37DDC654B88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238285BD-3B82-89ED-E518-1F346727633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081A2A0F-26A7-6189-4F00-0F2A78779476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4F8CF5D5-ACF0-A6DB-88BD-2AE2C946B0F2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5EE9AA2F-B46E-E905-533A-31B030F864F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lang="en-US" sz="2625" b="1" dirty="0">
                <a:solidFill>
                  <a:srgbClr val="111827"/>
                </a:solidFill>
              </a:rPr>
              <a:t>Login / </a:t>
            </a:r>
            <a:r>
              <a:rPr lang="th-TH" sz="2625" b="1" dirty="0">
                <a:solidFill>
                  <a:srgbClr val="111827"/>
                </a:solidFill>
              </a:rPr>
              <a:t>สร้างผู้ใช้งาน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A3DE5459-A98D-6A04-5029-352AFF9D922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4ED80602-19A8-A8EA-8748-4C590916FB10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2655723A-8265-22B5-292A-29D86FF84A40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b="0" dirty="0">
                <a:solidFill>
                  <a:srgbClr val="111827"/>
                </a:solidFill>
              </a:rPr>
              <a:t>การยืนยันรหัสผ่านอีกครั้ง ไม่</a:t>
            </a:r>
            <a:r>
              <a:rPr lang="en-US" sz="1500" dirty="0">
                <a:solidFill>
                  <a:srgbClr val="111827"/>
                </a:solidFill>
              </a:rPr>
              <a:t> Function </a:t>
            </a:r>
            <a:r>
              <a:rPr lang="th-TH" sz="1500" dirty="0">
                <a:solidFill>
                  <a:srgbClr val="111827"/>
                </a:solidFill>
              </a:rPr>
              <a:t>การ </a:t>
            </a:r>
            <a:r>
              <a:rPr lang="en-US" sz="1500" dirty="0">
                <a:solidFill>
                  <a:srgbClr val="111827"/>
                </a:solidFill>
              </a:rPr>
              <a:t>View </a:t>
            </a:r>
            <a:r>
              <a:rPr lang="th-TH" sz="1500" dirty="0">
                <a:solidFill>
                  <a:srgbClr val="111827"/>
                </a:solidFill>
              </a:rPr>
              <a:t>รหัสผ่าน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C272B535-4435-951A-521B-0FC73E4983B2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5898681-D1A3-8191-6DB5-50E70F2232DB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208D32F8-BF19-5D21-F584-FAC0D6B20CA3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DBA99E42-583D-CDA3-D929-DDCA4A106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0"/>
          <a:stretch>
            <a:fillRect/>
          </a:stretch>
        </p:blipFill>
        <p:spPr>
          <a:xfrm>
            <a:off x="5977864" y="1393097"/>
            <a:ext cx="5421656" cy="4531453"/>
          </a:xfrm>
          <a:prstGeom prst="rect">
            <a:avLst/>
          </a:prstGeom>
        </p:spPr>
      </p:pic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470FEEFE-94A1-9890-D9D6-5D1E944EB42F}"/>
              </a:ext>
            </a:extLst>
          </p:cNvPr>
          <p:cNvSpPr/>
          <p:nvPr/>
        </p:nvSpPr>
        <p:spPr>
          <a:xfrm>
            <a:off x="10025462" y="4173179"/>
            <a:ext cx="176981" cy="26547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44F39B8E-40DC-6AD2-2B78-34B45C9B9552}"/>
              </a:ext>
            </a:extLst>
          </p:cNvPr>
          <p:cNvSpPr/>
          <p:nvPr/>
        </p:nvSpPr>
        <p:spPr>
          <a:xfrm>
            <a:off x="10025461" y="4858364"/>
            <a:ext cx="176981" cy="2654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BF4E5622-FB94-3D05-C667-6C842841F1A2}"/>
              </a:ext>
            </a:extLst>
          </p:cNvPr>
          <p:cNvCxnSpPr>
            <a:endCxn id="8" idx="3"/>
          </p:cNvCxnSpPr>
          <p:nvPr/>
        </p:nvCxnSpPr>
        <p:spPr>
          <a:xfrm flipH="1" flipV="1">
            <a:off x="4743450" y="3429000"/>
            <a:ext cx="5282012" cy="1562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22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3D28A-8962-747A-4E20-1B37BDCA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8038DAA8-B925-5E8B-2B04-FB19F4F5744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270733E-A566-D35C-B7F9-3E7E12D46C35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F7B8A344-4D9F-8468-F611-5DBD194A9230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45C416B-F216-40F7-3F08-F37076DF62E2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0BCD0257-E6BD-33FC-5423-B74FE5F5F37F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lang="en-US" sz="2625" b="1" dirty="0">
                <a:solidFill>
                  <a:srgbClr val="111827"/>
                </a:solidFill>
              </a:rPr>
              <a:t>Login / </a:t>
            </a:r>
            <a:r>
              <a:rPr lang="th-TH" sz="2625" b="1" dirty="0">
                <a:solidFill>
                  <a:srgbClr val="111827"/>
                </a:solidFill>
              </a:rPr>
              <a:t>สร้างผู้ใช้งาน</a:t>
            </a:r>
            <a:r>
              <a:rPr lang="en-US" sz="2625" b="1" dirty="0">
                <a:solidFill>
                  <a:srgbClr val="111827"/>
                </a:solidFill>
              </a:rPr>
              <a:t>+</a:t>
            </a:r>
            <a:r>
              <a:rPr lang="th-TH" sz="2625" b="1" dirty="0">
                <a:solidFill>
                  <a:srgbClr val="111827"/>
                </a:solidFill>
              </a:rPr>
              <a:t>ยืนยันอีเมล</a:t>
            </a:r>
            <a:r>
              <a:rPr lang="en-US" sz="2625" b="1" dirty="0">
                <a:solidFill>
                  <a:srgbClr val="111827"/>
                </a:solidFill>
              </a:rPr>
              <a:t>+</a:t>
            </a:r>
            <a:r>
              <a:rPr lang="th-TH" sz="2625" b="1" dirty="0">
                <a:solidFill>
                  <a:srgbClr val="111827"/>
                </a:solidFill>
              </a:rPr>
              <a:t>รอ </a:t>
            </a:r>
            <a:r>
              <a:rPr lang="en-US" sz="2625" b="1" dirty="0" err="1">
                <a:solidFill>
                  <a:srgbClr val="111827"/>
                </a:solidFill>
              </a:rPr>
              <a:t>Aprove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E9D79998-A091-E4CB-1370-5D39DE189352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C3713AC9-9AE2-C7CA-331A-1DACD2BF4A51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2B368ABD-65BB-BD47-481B-957B5861568E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b="0" dirty="0">
                <a:solidFill>
                  <a:srgbClr val="111827"/>
                </a:solidFill>
              </a:rPr>
              <a:t>การยืนยันรหัสผ่านอีกครั้ง ไม่</a:t>
            </a:r>
            <a:r>
              <a:rPr lang="th-TH" sz="1500" dirty="0">
                <a:solidFill>
                  <a:srgbClr val="111827"/>
                </a:solidFill>
              </a:rPr>
              <a:t>มี</a:t>
            </a:r>
            <a:r>
              <a:rPr lang="en-US" sz="1500" dirty="0">
                <a:solidFill>
                  <a:srgbClr val="111827"/>
                </a:solidFill>
              </a:rPr>
              <a:t> Function </a:t>
            </a:r>
            <a:r>
              <a:rPr lang="th-TH" sz="1500" dirty="0">
                <a:solidFill>
                  <a:srgbClr val="111827"/>
                </a:solidFill>
              </a:rPr>
              <a:t>การ </a:t>
            </a:r>
            <a:r>
              <a:rPr lang="en-US" sz="1500" dirty="0">
                <a:solidFill>
                  <a:srgbClr val="111827"/>
                </a:solidFill>
              </a:rPr>
              <a:t>View </a:t>
            </a:r>
            <a:r>
              <a:rPr lang="th-TH" sz="1500" dirty="0">
                <a:solidFill>
                  <a:srgbClr val="111827"/>
                </a:solidFill>
              </a:rPr>
              <a:t>รหัสผ่าน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6B90C0C0-2017-6F8D-8A7B-CBD3938B1F99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3E3F7558-2D79-3F7A-3A1B-5B8466F297DD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51B2008A-30D6-45AF-42F4-13EB3F56827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D573DEDF-B652-0C34-8F15-927E5977A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0"/>
          <a:stretch>
            <a:fillRect/>
          </a:stretch>
        </p:blipFill>
        <p:spPr>
          <a:xfrm>
            <a:off x="5977864" y="1393097"/>
            <a:ext cx="5421656" cy="4531453"/>
          </a:xfrm>
          <a:prstGeom prst="rect">
            <a:avLst/>
          </a:prstGeom>
        </p:spPr>
      </p:pic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823789A4-E27C-5985-E885-B189D5FC877E}"/>
              </a:ext>
            </a:extLst>
          </p:cNvPr>
          <p:cNvSpPr/>
          <p:nvPr/>
        </p:nvSpPr>
        <p:spPr>
          <a:xfrm>
            <a:off x="10025462" y="4173179"/>
            <a:ext cx="176981" cy="26547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86FDFCF1-1846-1695-E937-055A413C6FEB}"/>
              </a:ext>
            </a:extLst>
          </p:cNvPr>
          <p:cNvSpPr/>
          <p:nvPr/>
        </p:nvSpPr>
        <p:spPr>
          <a:xfrm>
            <a:off x="10025461" y="4858364"/>
            <a:ext cx="176981" cy="2654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A7FEC79D-6EF1-394C-0F67-ED549C3CC8E3}"/>
              </a:ext>
            </a:extLst>
          </p:cNvPr>
          <p:cNvCxnSpPr>
            <a:endCxn id="8" idx="3"/>
          </p:cNvCxnSpPr>
          <p:nvPr/>
        </p:nvCxnSpPr>
        <p:spPr>
          <a:xfrm flipH="1" flipV="1">
            <a:off x="4743450" y="3429000"/>
            <a:ext cx="5282012" cy="1562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9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BF951-5368-E306-D6C9-5D5F0DCA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6A27EC30-4A1F-B8DF-E25A-7398A5A5E1E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4C45498-9AE8-7A03-18BF-AB1B1E7F1649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C9E1830F-82B4-30A7-49C4-5E33C336475C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6242C37-D101-02AE-9DFE-F7F94AC40036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77AD08CB-4709-7327-0EEE-83439C8B1B5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lang="en-US" sz="2625" b="1" dirty="0">
                <a:solidFill>
                  <a:srgbClr val="111827"/>
                </a:solidFill>
              </a:rPr>
              <a:t>Login /Forgot Password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3BA3B628-64DE-3C1C-0891-DCA204B93B33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C95200AC-1EB9-7F6F-DCC7-5E79B46F1294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FD0C24F-9927-6741-0596-28BD4BA0C9B7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เปลี่ยนสีให้เข้าตรีมระบบ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E8CD39F3-5D19-B69F-DDFF-4E384D059B7C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A0E1B082-5040-6FCE-A6FD-EC25A2B33CBB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17D20AAF-596D-3D47-EECC-3EA7BEFCBCE1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endParaRPr lang="th-TH" sz="1125" b="0" dirty="0">
              <a:solidFill>
                <a:srgbClr val="111827"/>
              </a:solidFill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4C234C81-1FD7-C487-AE59-9D97BCA62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7" r="9437"/>
          <a:stretch/>
        </p:blipFill>
        <p:spPr>
          <a:xfrm>
            <a:off x="5977864" y="1393097"/>
            <a:ext cx="5421656" cy="4531453"/>
          </a:xfrm>
          <a:prstGeom prst="rect">
            <a:avLst/>
          </a:prstGeom>
        </p:spPr>
      </p:pic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A28CAA7B-AEBB-426A-2943-3158649A7203}"/>
              </a:ext>
            </a:extLst>
          </p:cNvPr>
          <p:cNvSpPr/>
          <p:nvPr/>
        </p:nvSpPr>
        <p:spPr>
          <a:xfrm>
            <a:off x="6702158" y="4077314"/>
            <a:ext cx="1124319" cy="3613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D578A7CE-C28C-995F-58DD-F73D0AEDB144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4743450" y="3429000"/>
            <a:ext cx="1958708" cy="648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075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29D2F-7DA6-9D43-A772-80E21206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ECB0D01F-42F5-909E-A9DD-22CB3DD381A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CA86219-D835-6283-6983-5FA9985BC67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 dirty="0">
                <a:solidFill>
                  <a:srgbClr val="64748B"/>
                </a:solidFill>
              </a:rPr>
              <a:t>Search / Dataset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7B8AB1D-CC6A-184A-07D7-10DF639A7DEF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3E4A88D-2C28-D649-BF2A-D6891ECF4829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7B9C1759-CC35-410E-1041-8606C291189A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lang="en-US" sz="2625" b="1" dirty="0">
                <a:solidFill>
                  <a:srgbClr val="111827"/>
                </a:solidFill>
              </a:rPr>
              <a:t>Login /Forgot Password</a:t>
            </a:r>
            <a:endParaRPr sz="2625" b="1" dirty="0">
              <a:solidFill>
                <a:schemeClr val="accent4"/>
              </a:solidFill>
            </a:endParaRP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9EDD0D94-4B6F-684F-AC61-517333F9C9E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95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endParaRPr sz="1050" b="1" dirty="0">
              <a:solidFill>
                <a:srgbClr val="008A3D"/>
              </a:solidFill>
            </a:endParaRP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4EF846D1-DEA7-DE53-D9C7-18CF2B5C1234}"/>
              </a:ext>
            </a:extLst>
          </p:cNvPr>
          <p:cNvSpPr>
            <a:spLocks noGrp="1"/>
          </p:cNvSpPr>
          <p:nvPr/>
        </p:nvSpPr>
        <p:spPr>
          <a:xfrm>
            <a:off x="28194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 dirty="0">
                <a:solidFill>
                  <a:srgbClr val="E11D48"/>
                </a:solidFill>
              </a:rPr>
              <a:t>Gap </a:t>
            </a:r>
            <a:r>
              <a:rPr sz="1050" b="1" dirty="0" err="1">
                <a:solidFill>
                  <a:srgbClr val="E11D48"/>
                </a:solidFill>
              </a:rPr>
              <a:t>ยืนยัน</a:t>
            </a:r>
            <a:endParaRPr sz="1050" b="1" dirty="0">
              <a:solidFill>
                <a:srgbClr val="E11D48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E6D87B57-B94A-D3E0-A9DC-976F6A6B82BB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1500" b="0">
                <a:solidFill>
                  <a:srgbClr val="111827"/>
                </a:solidFill>
              </a:defRPr>
            </a:pPr>
            <a:r>
              <a:rPr lang="th-TH" sz="1500" dirty="0">
                <a:solidFill>
                  <a:srgbClr val="111827"/>
                </a:solidFill>
              </a:rPr>
              <a:t>ไม่</a:t>
            </a:r>
            <a:r>
              <a:rPr lang="en-US" sz="1500" dirty="0">
                <a:solidFill>
                  <a:srgbClr val="111827"/>
                </a:solidFill>
              </a:rPr>
              <a:t> Function </a:t>
            </a:r>
            <a:r>
              <a:rPr lang="th-TH" sz="1500" dirty="0">
                <a:solidFill>
                  <a:srgbClr val="111827"/>
                </a:solidFill>
              </a:rPr>
              <a:t>การ </a:t>
            </a:r>
            <a:r>
              <a:rPr lang="en-US" sz="1500" dirty="0">
                <a:solidFill>
                  <a:srgbClr val="111827"/>
                </a:solidFill>
              </a:rPr>
              <a:t>View </a:t>
            </a:r>
            <a:r>
              <a:rPr lang="th-TH" sz="1500" dirty="0">
                <a:solidFill>
                  <a:srgbClr val="111827"/>
                </a:solidFill>
              </a:rPr>
              <a:t>รหัสผ่าน</a:t>
            </a:r>
            <a:endParaRPr sz="1500" b="0" dirty="0">
              <a:solidFill>
                <a:srgbClr val="111827"/>
              </a:solidFill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8DEE521C-BD86-46CC-C347-21B838FCEC92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5856263A-21E7-2829-7821-1C7D16663E6B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AAA3617A-5419-D4F1-C98C-83AA7396EF63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endParaRPr lang="th-TH" sz="1125" b="0" dirty="0">
              <a:solidFill>
                <a:srgbClr val="111827"/>
              </a:solidFill>
            </a:endParaRP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0289CC68-AF1A-9705-FD80-1B7C609A3F0A}"/>
              </a:ext>
            </a:extLst>
          </p:cNvPr>
          <p:cNvSpPr/>
          <p:nvPr/>
        </p:nvSpPr>
        <p:spPr>
          <a:xfrm>
            <a:off x="6702158" y="4077314"/>
            <a:ext cx="1124319" cy="3613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EA93A9D4-7AF8-87FF-A583-F27B824E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66" y="3121885"/>
            <a:ext cx="6536743" cy="2739370"/>
          </a:xfrm>
          <a:prstGeom prst="rect">
            <a:avLst/>
          </a:prstGeom>
        </p:spPr>
      </p:pic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735B1B9A-1E4D-8D85-BEAD-1BC65272CFAC}"/>
              </a:ext>
            </a:extLst>
          </p:cNvPr>
          <p:cNvSpPr/>
          <p:nvPr/>
        </p:nvSpPr>
        <p:spPr>
          <a:xfrm>
            <a:off x="10864645" y="3746090"/>
            <a:ext cx="774905" cy="15688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ลูกศรเชื่อมต่อแบบตรง 19">
            <a:extLst>
              <a:ext uri="{FF2B5EF4-FFF2-40B4-BE49-F238E27FC236}">
                <a16:creationId xmlns:a16="http://schemas.microsoft.com/office/drawing/2014/main" id="{A707FEF4-2DE7-2EBF-C46C-5685C9200E40}"/>
              </a:ext>
            </a:extLst>
          </p:cNvPr>
          <p:cNvCxnSpPr>
            <a:stCxn id="17" idx="1"/>
            <a:endCxn id="8" idx="3"/>
          </p:cNvCxnSpPr>
          <p:nvPr/>
        </p:nvCxnSpPr>
        <p:spPr>
          <a:xfrm flipH="1" flipV="1">
            <a:off x="4743450" y="3429000"/>
            <a:ext cx="6121195" cy="1101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8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0C2F4C0D-6C38-488C-8480-B82144D80C8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CD76D9A-525E-47A2-A6AB-A2021830C6F3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Register / User Management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8965CA8-7854-439C-8DB9-568BD7FB8F57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EAB92DC-D42B-4032-B73C-2995557F68C2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226EB693-5562-4B42-B470-B97159AD99D4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Register ต้องมี Admin Create User ที่ไม่เข้า Approve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FFE14FE7-C925-4671-BD51-546C72C64956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381125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5.7.8(5)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6E720141-5183-4844-943A-3A439645ED2F}"/>
              </a:ext>
            </a:extLst>
          </p:cNvPr>
          <p:cNvSpPr>
            <a:spLocks noGrp="1"/>
          </p:cNvSpPr>
          <p:nvPr/>
        </p:nvSpPr>
        <p:spPr>
          <a:xfrm>
            <a:off x="209550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E11D48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rPr sz="1050" b="1">
                <a:solidFill>
                  <a:srgbClr val="E11D48"/>
                </a:solidFill>
              </a:rPr>
              <a:t>Gap ยืนยัน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09E79F5-FA00-4FEC-9F83-03F96844C785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หน้า User Management มีค้นหา เปลี่ยน role และลบผู้ใช้ แต่ไม่พบปุ่ม Add User หรือ form ให้ Admin สร้างผู้ใช้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C9A7CF72-3EF1-4BD6-9A74-33B874C7F425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191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8C56602C-34E0-4B76-9199-C7B8B96C357E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CE638DA7-BE02-48E3-A191-4834F42DE38C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เพิ่ม Add User / Admin Create User flow และไม่ส่งรายการที่ Admin สร้างเข้า Approve Register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9478" y="1257300"/>
            <a:ext cx="4639294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94272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AB460CFA-94FE-4FB8-93F2-8C2AB7D7137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3FAAAC0-596D-43B3-9110-18C9FF64733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Login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1D4FC920-04D8-4144-9105-BCE0ABF142AC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DEFCC953-40C3-4923-9610-2BA9D52AEA01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272614F1-7A65-481D-84E9-883A269500A8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Login ต้องมี Forgot Password และ Alert จาก Failed Login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7E46C439-6C5E-4E6E-B576-08C42959192C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0002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5.7.8.8(5)-(6)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812DF79F-2EE3-44AB-8BAD-D2FDA737EE97}"/>
              </a:ext>
            </a:extLst>
          </p:cNvPr>
          <p:cNvSpPr>
            <a:spLocks noGrp="1"/>
          </p:cNvSpPr>
          <p:nvPr/>
        </p:nvSpPr>
        <p:spPr>
          <a:xfrm>
            <a:off x="2724150" y="226695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</a:rPr>
              <a:t>มีบางส่วน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D2CBE488-4EEB-4A34-97CC-5A7124B4EDF5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4191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เห็นลิงก์ Forgot password? แล้ว แต่ยังต้องพิสูจน์ว่า reset password ส่ง code/link ทางอีเมลได้จริง และต้องมี alert จาก failed login event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C52DCA5E-A0A6-4250-AE36-4D186FB714F2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4191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F2DEFB0D-B180-4E5A-94FD-C2B5C8348E66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3D2ECE1-5ED1-4006-AB27-CDF03B5820DF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เชื่อม reset password และ failed-login alert แบบ end-to-end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74461" y="1257300"/>
            <a:ext cx="5729328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9670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632FB2F4-B71A-48F6-A74F-E54F2AC0CA4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2642182-39A0-4E40-BD60-FBD2CBA7DC5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Profile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63C10C0B-0958-40CA-80F4-3DCF4D7E3CCF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3B30C659-92B3-4E4B-8823-FC00A7ED72DD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32779137-31AB-4D94-BB35-C73398E6344C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Profile ต้องแสดงสิทธิ์ให้ตรง Role จริง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56A94DCE-1AA2-4B32-860E-25CCF26DF2CE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1571625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5.7.8.8(9)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43EDDAA0-7EBE-4681-8266-01E8EF13A64F}"/>
              </a:ext>
            </a:extLst>
          </p:cNvPr>
          <p:cNvSpPr>
            <a:spLocks noGrp="1"/>
          </p:cNvSpPr>
          <p:nvPr/>
        </p:nvSpPr>
        <p:spPr>
          <a:xfrm>
            <a:off x="2286000" y="217170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</a:rPr>
              <a:t>มีบางส่วน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F62626EE-D944-414D-9FF8-A772007BE28C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4381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หน้า Profile แสดงชื่อ System Administrator แต่ label ใต้ชื่อเป็น User ขณะที่ User Management แสดง testadmin เป็น RootAdmin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810E9F87-3391-4E44-A298-77F39A8C8829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41910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E90BDF4E-DCFA-49DF-B44D-39CD52DEFC2C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D8BA986-D381-446C-B4F5-FC8EC1AF1D1A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ปรับ profile ให้แสดง role/สิทธิ์จริงตามบัญชีผู้ใช้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9727" y="1257300"/>
            <a:ext cx="5418796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963038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E3FA1093-4217-4763-8DD4-5F751FC9438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F5C85CDC-CE8E-41BF-AC9A-CE99A823F3A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Notifications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83B6B4B0-A165-40B7-BBAD-12DA8150670A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216EDF77-4F69-4A0C-AB5A-1B947A252D5B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378D708-567E-40C7-9BD5-C13F73E9D218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Notifications ต้องทำ Event แจ้งเตือนให้ครบ TOR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3A1A3B77-A41B-4E9C-A7F4-48CA8BA45FCF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24765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5.7.8(9.9.2)-(9.9.4)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22449316-9F1E-4286-8D03-74830D5AB371}"/>
              </a:ext>
            </a:extLst>
          </p:cNvPr>
          <p:cNvSpPr>
            <a:spLocks noGrp="1"/>
          </p:cNvSpPr>
          <p:nvPr/>
        </p:nvSpPr>
        <p:spPr>
          <a:xfrm>
            <a:off x="3190875" y="217170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</a:rPr>
              <a:t>มีบางส่วน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D6E86EE0-ECFE-4BE2-BA94-6313AC2FD4B1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4381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มี Email Notifications, Security Alerts และ Weekly Usage Summary แล้ว แต่ยังไม่พบ dataset update alert, watchlist alert และ news/new-data notification ครบ TOR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2526AE8F-CDFE-470A-9DA7-A43F84190BE1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864A00C7-E8CD-43EB-B8D2-FF095594AD44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59AEF60B-0D66-4529-8BF3-D25495871F70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เพิ่ม event notification และหลักฐาน trigger จริง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9727" y="1257300"/>
            <a:ext cx="5418796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73042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A4485E78-93B4-43F7-BD50-FA54BAEEE2A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1F774D14-9B71-41A5-8F19-B7321428C0D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Analytics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6B6DCABE-3331-4563-B41D-6AE62EBC03F5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BB2F5A8-B56C-411E-9C6B-661E2676FF15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87BDCD7F-8963-41E9-A9D4-7D28A8343EA6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Analytics ต้องปิด Gap ฝั่ง DEX และแยก OAC ออกจาก Scope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FE02CDFC-C331-49EE-86F0-809FA0E7416A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TOR 5.7.9</a:t>
            </a:r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713DD05A-3788-44AF-94FF-531C6C329D2E}"/>
              </a:ext>
            </a:extLst>
          </p:cNvPr>
          <p:cNvSpPr>
            <a:spLocks noGrp="1"/>
          </p:cNvSpPr>
          <p:nvPr/>
        </p:nvSpPr>
        <p:spPr>
          <a:xfrm>
            <a:off x="1866900" y="2362200"/>
            <a:ext cx="1143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</a:rPr>
              <a:t>มีบางส่วน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F4E41151-5A39-4D02-A4A4-07C26B8A4E5E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มี usage dashboard, KPI card, donut และตาราง แต่ยังไม่พบ custom report, interaction ระหว่าง view และ chart ขั้นต่ำครบทุกชนิด</a:t>
            </a: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8987211C-A284-4712-B38D-5AFC349E4C68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60C6085C-13EF-4627-9D62-EB470E72DDAB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ต้องทำ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172211F-8420-4EE5-AE46-5E2D8B0B9D5F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ทำ custom report, cross-view interaction และแยก OAC-delivered items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2327" y="1257300"/>
            <a:ext cx="5133596" cy="4286250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640890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29754C2D-2C43-4AF8-BF6F-A7AFC85EEB7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288E060D-2E2B-4234-B76D-54B36FEF454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Dataset Configuration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85A063B0-16C2-4B4D-A8B9-52E17C935580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D14CE8C6-4E90-4851-BE70-C53CFF6463C2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158EBF0A-7CE6-400B-BBE9-EEEEB0B3DD23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รายการที่ควรปรับสถานะจากไฟล์เดิม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6143172-876A-4F2F-9E4B-8C32F154136D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1524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พบความคืบหน้า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60304524-286E-4B7D-8D08-4BDF140FB258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หน้าเพิ่ม Dataset ตอนนี้มีตัวเลือก/label ที่ผูกกับ L2E มากขึ้น เช่น Completion Data, Learning Record, Course Completion และ Credit Earned</a:t>
            </a:r>
          </a:p>
        </p:txBody>
      </p: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2B4CA801-963B-45E4-A516-01E3363E57E3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4191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AC913322-FC12-4E65-BFA5-8AE72B77BC3F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8A3D"/>
                </a:solidFill>
              </a:defRPr>
            </a:pPr>
            <a:r>
              <a:rPr sz="1350" b="1">
                <a:solidFill>
                  <a:srgbClr val="008A3D"/>
                </a:solidFill>
              </a:rPr>
              <a:t>ควรแก้ใน Gap Sheet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CA9BEDC9-A5D4-4728-B225-AD5228D01BAB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ปรับบางข้อจาก 'ยังไม่เห็น L2E ชัดเจน' เป็น 'มีบางส่วน' แต่ยังต้องตรวจ required fields และ service binding</a:t>
            </a:r>
          </a:p>
        </p:txBody>
      </p:sp>
      <p:pic>
        <p:nvPicPr>
          <p:cNvPr id="22" name="รูปภาพ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91125" y="1276952"/>
            <a:ext cx="6096000" cy="4246945"/>
          </a:xfrm>
          <a:prstGeom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27477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1D7141A9-7912-4BA4-B818-F3DD210B2A4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A3D"/>
                </a:solidFill>
              </a:defRPr>
            </a:pPr>
            <a:r>
              <a:rPr sz="1500" b="1">
                <a:solidFill>
                  <a:srgbClr val="008A3D"/>
                </a:solidFill>
              </a:rPr>
              <a:t>DEX L2E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7B4F48D-25CC-4262-8FD0-569BB9C7B68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สรุป TOR 5.7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44C2E35F-543F-484B-B39C-5E8A9CE6F827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11087100" cy="19050"/>
          </a:xfrm>
          <a:prstGeom prst="rect">
            <a:avLst/>
          </a:prstGeom>
          <a:solidFill>
            <a:srgbClr val="008A3D"/>
          </a:solidFill>
          <a:ln w="0">
            <a:solidFill>
              <a:srgbClr val="008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3D3C6F06-70E5-48BA-84B8-9CD5CFDC5D00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E42D20CF-53CA-424D-9E8D-E08AB0433DD0}"/>
              </a:ext>
            </a:extLst>
          </p:cNvPr>
          <p:cNvSpPr>
            <a:spLocks noGrp="1"/>
          </p:cNvSpPr>
          <p:nvPr/>
        </p:nvSpPr>
        <p:spPr>
          <a:xfrm>
            <a:off x="552450" y="129540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สรุป TOR 5.7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3872708A-0827-4D35-9A94-21EF1B9F04E9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838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ผลรีเช็กยืนยันว่า deck เดิมยังใช้เป็น baseline ได้ แต่ควรอัปเดตบางสถานะตามหน้าระบบล่าสุด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334C705C-5263-44F9-9860-8AB638025E26}"/>
              </a:ext>
            </a:extLst>
          </p:cNvPr>
          <p:cNvSpPr>
            <a:spLocks noGrp="1"/>
          </p:cNvSpPr>
          <p:nvPr/>
        </p:nvSpPr>
        <p:spPr>
          <a:xfrm>
            <a:off x="819150" y="280987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ต้องเพิ่ม Public/Private API access และบังคับสิทธิ์ตามประเภท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3C9D531B-9752-4638-949C-4760D32B379D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ต้องเพิ่ม Request Access และ Field Selection สำหรับ Dataset/Dashboard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2F52A53A-9C60-4DF9-9006-E6F4DB4E3E49}"/>
              </a:ext>
            </a:extLst>
          </p:cNvPr>
          <p:cNvSpPr>
            <a:spLocks noGrp="1"/>
          </p:cNvSpPr>
          <p:nvPr/>
        </p:nvSpPr>
        <p:spPr>
          <a:xfrm>
            <a:off x="819150" y="360997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ต้องเพิ่ม Admin Create User และยืนยัน Forgot Password/Failed Login Alert แบบ end-to-end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B49A3C70-5BEE-43F7-B6E9-7C85923642B5}"/>
              </a:ext>
            </a:extLst>
          </p:cNvPr>
          <p:cNvSpPr>
            <a:spLocks noGrp="1"/>
          </p:cNvSpPr>
          <p:nvPr/>
        </p:nvSpPr>
        <p:spPr>
          <a:xfrm>
            <a:off x="819150" y="401002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ต้องทำ notification event และ analytics interaction/custom report ให้ครบ TOR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CEFEB8F2-3935-4A1C-B6D0-0A6D2CD4179E}"/>
              </a:ext>
            </a:extLst>
          </p:cNvPr>
          <p:cNvSpPr>
            <a:spLocks noGrp="1"/>
          </p:cNvSpPr>
          <p:nvPr/>
        </p:nvSpPr>
        <p:spPr>
          <a:xfrm>
            <a:off x="819150" y="441007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ควรอัปเดต Dataset Configuration เป็นมีบางส่วน เพราะเริ่มมี master data L2E แล้ว</a:t>
            </a:r>
          </a:p>
        </p:txBody>
      </p:sp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367641F3-574E-4FB0-A462-54F9A3E0F7F9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4288">
            <a:solidFill>
              <a:srgbClr val="008A3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A3D"/>
                </a:solidFill>
              </a:defRPr>
            </a:pPr>
            <a:r>
              <a:rPr sz="1050" b="1">
                <a:solidFill>
                  <a:srgbClr val="008A3D"/>
                </a:solidFill>
              </a:rPr>
              <a:t>ไฟล์นี้จัดทำจากผลรีเช็กระบบจริง 24 มิ.ย. 2569</a:t>
            </a:r>
          </a:p>
        </p:txBody>
      </p:sp>
    </p:spTree>
    <p:extLst>
      <p:ext uri="{BB962C8B-B14F-4D97-AF65-F5344CB8AC3E}">
        <p14:creationId xmlns:p14="http://schemas.microsoft.com/office/powerpoint/2010/main" val="20791719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BC8CFC4F577D4E8D93DB1CBB67D366" ma:contentTypeVersion="13" ma:contentTypeDescription="Create a new document." ma:contentTypeScope="" ma:versionID="117044b47666b1d5b2359a5e2f09a8f5">
  <xsd:schema xmlns:xsd="http://www.w3.org/2001/XMLSchema" xmlns:xs="http://www.w3.org/2001/XMLSchema" xmlns:p="http://schemas.microsoft.com/office/2006/metadata/properties" xmlns:ns2="f4a469ce-3803-42d5-9279-4261d16855b0" xmlns:ns3="3d82e82f-1e4a-4ef6-b2ad-1b1abc985fc3" targetNamespace="http://schemas.microsoft.com/office/2006/metadata/properties" ma:root="true" ma:fieldsID="19a8621e6a2d7048e0cd946ad944fd73" ns2:_="" ns3:_="">
    <xsd:import namespace="f4a469ce-3803-42d5-9279-4261d16855b0"/>
    <xsd:import namespace="3d82e82f-1e4a-4ef6-b2ad-1b1abc985f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a469ce-3803-42d5-9279-4261d16855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9e0a9f-f3da-4cf4-84f1-4b3a72fbcf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2e82f-1e4a-4ef6-b2ad-1b1abc985fc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6d7a36c-619c-4ec0-be20-aad26270c107}" ma:internalName="TaxCatchAll" ma:showField="CatchAllData" ma:web="3d82e82f-1e4a-4ef6-b2ad-1b1abc985f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a469ce-3803-42d5-9279-4261d16855b0">
      <Terms xmlns="http://schemas.microsoft.com/office/infopath/2007/PartnerControls"/>
    </lcf76f155ced4ddcb4097134ff3c332f>
    <TaxCatchAll xmlns="3d82e82f-1e4a-4ef6-b2ad-1b1abc985fc3" xsi:nil="true"/>
  </documentManagement>
</p:properties>
</file>

<file path=customXml/itemProps1.xml><?xml version="1.0" encoding="utf-8"?>
<ds:datastoreItem xmlns:ds="http://schemas.openxmlformats.org/officeDocument/2006/customXml" ds:itemID="{484A8DE3-40A2-4C7B-B71B-4CA62675D061}"/>
</file>

<file path=customXml/itemProps2.xml><?xml version="1.0" encoding="utf-8"?>
<ds:datastoreItem xmlns:ds="http://schemas.openxmlformats.org/officeDocument/2006/customXml" ds:itemID="{E4C07E3D-3DA9-4242-8C7B-138DE197721F}"/>
</file>

<file path=customXml/itemProps3.xml><?xml version="1.0" encoding="utf-8"?>
<ds:datastoreItem xmlns:ds="http://schemas.openxmlformats.org/officeDocument/2006/customXml" ds:itemID="{434A201D-BA4E-462D-BF78-84A2223316F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DocSecurity>0</DocSecurity>
  <PresentationFormat>แบบจอกว้าง</PresentationFormat>
  <Paragraphs>167</Paragraphs>
  <Slides>19</Slides>
  <Notes>19</Notes>
  <HiddenSlides>2</HiddenSlides>
  <MMClips>0</MMClips>
  <ScaleCrop>false</ScaleCrop>
  <HeadingPairs>
    <vt:vector size="6" baseType="variant">
      <vt:variant>
        <vt:lpstr>ฟอนต์ที่ถูกใช้</vt:lpstr>
      </vt:variant>
      <vt:variant>
        <vt:i4>1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1" baseType="lpstr">
      <vt:lpstr>Calibri</vt:lpstr>
      <vt:lpstr>ChatGPT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Jarukorn Jantharasena (Well)</cp:lastModifiedBy>
  <cp:revision>1</cp:revision>
  <dcterms:created xsi:type="dcterms:W3CDTF">2026-06-24T03:26:11Z</dcterms:created>
  <dcterms:modified xsi:type="dcterms:W3CDTF">2026-06-24T12:17:30Z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0x01010031BC8CFC4F577D4E8D93DB1CBB67D366</vt:lpwstr>
  </property>
</Properties>
</file>